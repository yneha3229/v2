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d94413f-8b58-1a5f-ff21-c1a882c50aa3}">
          <p14:sldIdLst>
            <p14:sldId id="256"/>
          </p14:sldIdLst>
        </p14:section>
        <p14:section name="Problem" id="{854b4b0d-225b-7f98-6a90-ce8d9ecefe65}">
          <p14:sldIdLst>
            <p14:sldId id="257"/>
          </p14:sldIdLst>
        </p14:section>
        <p14:section name="Product" id="{3cd980b3-05a2-3396-2e98-c755b9f7baef}">
          <p14:sldIdLst>
            <p14:sldId id="258"/>
          </p14:sldIdLst>
        </p14:section>
        <p14:section name="Method" id="{50e63706-5f58-3cfa-bcb7-f56740bfe7e4}">
          <p14:sldIdLst>
            <p14:sldId id="259"/>
            <p14:sldId id="260"/>
          </p14:sldIdLst>
        </p14:section>
        <p14:section name="Proof" id="{54617e3c-d083-918f-b15a-ea73a3b93596}">
          <p14:sldIdLst>
            <p14:sldId id="261"/>
            <p14:sldId id="262"/>
          </p14:sldIdLst>
        </p14:section>
        <p14:section name="Close" id="{dac24ca3-bc0c-b2ec-a316-be5f54713b4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ln w="254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8CFF"/>
              </a:solidFill>
              <a:ln w="254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ln w="254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2C55E"/>
              </a:solidFill>
              <a:ln w="254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5B301"/>
              </a:solidFill>
              <a:ln w="25400" cap="flat">
                <a:solidFill>
                  <a:srgbClr val="0B102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EEF2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EEF2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EEF2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EEF2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EEF2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Traction</c:v>
                </c:pt>
                <c:pt idx="1">
                  <c:v>Team</c:v>
                </c:pt>
                <c:pt idx="2">
                  <c:v>Market</c:v>
                </c:pt>
                <c:pt idx="3">
                  <c:v>Financing</c:v>
                </c:pt>
                <c:pt idx="4">
                  <c:v>Verification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influence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EF2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C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B30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Company size (headcount + size bracket)</c:v>
                  </c:pt>
                  <c:pt idx="1">
                    <c:v>Headcount growth</c:v>
                  </c:pt>
                  <c:pt idx="2">
                    <c:v>Company age</c:v>
                  </c:pt>
                  <c:pt idx="3">
                    <c:v>Funding (total, last round, recency)</c:v>
                  </c:pt>
                  <c:pt idx="4">
                    <c:v>Location (country cost, US, tier-1 HQ)</c:v>
                  </c:pt>
                  <c:pt idx="5">
                    <c:v>Category (AI, consumer, devtools, B2B, fintech)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49.7</c:v>
                </c:pt>
                <c:pt idx="1">
                  <c:v>12.2</c:v>
                </c:pt>
                <c:pt idx="2">
                  <c:v>11.2</c:v>
                </c:pt>
                <c:pt idx="3">
                  <c:v>10.8</c:v>
                </c:pt>
                <c:pt idx="4">
                  <c:v>8.2</c:v>
                </c:pt>
                <c:pt idx="5">
                  <c:v>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EF2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9B4D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25335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A9B4D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A9B4D6"/>
                </a:solidFill>
                <a:latin typeface="+mn-lt"/>
              </a:rPr>
              <a:t>Revenue: median error vs reported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</c:v>
                </c:pt>
              </c:strCache>
            </c:strRef>
          </c:tx>
          <c:spPr>
            <a:solidFill>
              <a:srgbClr val="3A4A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EF2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A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A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4A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A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A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Crustdata band midpoint</c:v>
                  </c:pt>
                  <c:pt idx="1">
                    <c:v>Model 3 (rich features)</c:v>
                  </c:pt>
                  <c:pt idx="2">
                    <c:v>Model v1</c:v>
                  </c:pt>
                  <c:pt idx="3">
                    <c:v>Model v2 (+ social posts)</c:v>
                  </c:pt>
                  <c:pt idx="4">
                    <c:v>Calibrated ensemble</c:v>
                  </c:pt>
                  <c:pt idx="5">
                    <c:v>Pipeline in use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79</c:v>
                </c:pt>
                <c:pt idx="2">
                  <c:v>57</c:v>
                </c:pt>
                <c:pt idx="3">
                  <c:v>57</c:v>
                </c:pt>
                <c:pt idx="4">
                  <c:v>31</c:v>
                </c:pt>
                <c:pt idx="5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EF2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9B4D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5335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every first meeting with a startup, someone at a fund spends about an hour checking it by hand. Proofroom does that job: type a company, get a sourced investment signal and a report in about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pays: VC funds, angel syndicates, corp-dev teams. They pay in analyst time and in database seats that still need a person to reconcile. A summarizing chatbot repeats the press release, which is exactly what the investor wants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here: type an unseen company, show the dashboard, the tabs, the how-it's-computed explainers and the PDF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weighted pillars give the score. Then flags can cap the rating, and confidence sizes the check: for example INVEST at high confidence means the full $100K; ACCUMULATE means a first tranche.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half of the estimate comes from company size. Growth, age and funding are about 11-12% each; location and category about 8% each. For larger startups we blend in a revenue-per-employee benchmark, so size drives about three-quarters there. The weights are model weights, not causal effects; the correction rests on 3 companies, so we show a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company was scored with its own reported figure left out. Six companies is a small sample, so treat it as indicative. Tests: 312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case is a number that is right but misleading: Linear's total includes a $99M tender. What failed: social posts and the richer Model 3 did not improve accuracy, so we kept the simplest pipeline that tested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claims check inside the live dashboard, revenue calibrated on many more companies, and watchers. Why not today: each needs more ground truth than one day allows.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A3"/>
                </a:solidFill>
              </a:rPr>
              <a:t>PROOFROOM · ContextCon 03 · IIT Bombay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indent="0" marL="0">
              <a:buNone/>
            </a:pPr>
            <a:r>
              <a:rPr lang="en-US" sz="6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9B4D6"/>
                </a:solidFill>
              </a:rPr>
              <a:t>Should you invest? Ask the evidence.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</a:rPr>
              <a:t>Type a startup. Get a sourced investment signal and a report, in about a minute.</a:t>
            </a:r>
            <a:endParaRPr lang="en-US" sz="2000" dirty="0"/>
          </a:p>
        </p:txBody>
      </p:sp>
      <p:sp>
        <p:nvSpPr>
          <p:cNvPr id="5" name="stat0"/>
          <p:cNvSpPr/>
          <p:nvPr/>
        </p:nvSpPr>
        <p:spPr>
          <a:xfrm>
            <a:off x="731520" y="4572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~1 min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company name → report</a:t>
            </a:r>
            <a:endParaRPr lang="en-US" sz="1400" dirty="0"/>
          </a:p>
        </p:txBody>
      </p:sp>
      <p:sp>
        <p:nvSpPr>
          <p:cNvPr id="8" name="stat1"/>
          <p:cNvSpPr/>
          <p:nvPr/>
        </p:nvSpPr>
        <p:spPr>
          <a:xfrm>
            <a:off x="3474720" y="4572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CFF"/>
                </a:solidFill>
              </a:rPr>
              <a:t>9 + live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companies, any domain</a:t>
            </a:r>
            <a:endParaRPr lang="en-US" sz="1400" dirty="0"/>
          </a:p>
        </p:txBody>
      </p:sp>
      <p:sp>
        <p:nvSpPr>
          <p:cNvPr id="11" name="stat2"/>
          <p:cNvSpPr/>
          <p:nvPr/>
        </p:nvSpPr>
        <p:spPr>
          <a:xfrm>
            <a:off x="6217920" y="4572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</a:rPr>
              <a:t>312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14" name="stat3"/>
          <p:cNvSpPr/>
          <p:nvPr/>
        </p:nvSpPr>
        <p:spPr>
          <a:xfrm>
            <a:off x="8961120" y="4572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14%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median revenue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job: an hour of checks per startup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Analysts, associates and syndicate leads do it by hand; funds pay in time and database seats</a:t>
            </a:r>
            <a:endParaRPr lang="en-US" sz="1600" dirty="0"/>
          </a:p>
        </p:txBody>
      </p:sp>
      <p:sp>
        <p:nvSpPr>
          <p:cNvPr id="4" name="q0"/>
          <p:cNvSpPr/>
          <p:nvPr/>
        </p:nvSpPr>
        <p:spPr>
          <a:xfrm>
            <a:off x="548640" y="1828800"/>
            <a:ext cx="6766560" cy="914400"/>
          </a:xfrm>
          <a:prstGeom prst="roundRect">
            <a:avLst>
              <a:gd name="adj" fmla="val 15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Who are the founders, really?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042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Schools, prior employers, prior startups: profiles are self-reported</a:t>
            </a:r>
            <a:endParaRPr lang="en-US" sz="1400" dirty="0"/>
          </a:p>
        </p:txBody>
      </p:sp>
      <p:sp>
        <p:nvSpPr>
          <p:cNvPr id="9" name="q1"/>
          <p:cNvSpPr/>
          <p:nvPr/>
        </p:nvSpPr>
        <p:spPr>
          <a:xfrm>
            <a:off x="548640" y="2880360"/>
            <a:ext cx="6766560" cy="914400"/>
          </a:xfrm>
          <a:prstGeom prst="roundRect">
            <a:avLst>
              <a:gd name="adj" fmla="val 15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971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How much did they raise, and is it growing?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55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Totals mix in secondary sales; bands lag fast growers</a:t>
            </a:r>
            <a:endParaRPr lang="en-US" sz="1400" dirty="0"/>
          </a:p>
        </p:txBody>
      </p:sp>
      <p:sp>
        <p:nvSpPr>
          <p:cNvPr id="14" name="q2"/>
          <p:cNvSpPr/>
          <p:nvPr/>
        </p:nvSpPr>
        <p:spPr>
          <a:xfrm>
            <a:off x="548640" y="3931920"/>
            <a:ext cx="6766560" cy="914400"/>
          </a:xfrm>
          <a:prstGeom prst="roundRect">
            <a:avLst>
              <a:gd name="adj" fmla="val 15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Is the market crowded?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074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Funded peers, growth against peers</a:t>
            </a:r>
            <a:endParaRPr lang="en-US" sz="1400" dirty="0"/>
          </a:p>
        </p:txBody>
      </p:sp>
      <p:sp>
        <p:nvSpPr>
          <p:cNvPr id="19" name="q3"/>
          <p:cNvSpPr/>
          <p:nvPr/>
        </p:nvSpPr>
        <p:spPr>
          <a:xfrm>
            <a:off x="548640" y="4983480"/>
            <a:ext cx="6766560" cy="914400"/>
          </a:xfrm>
          <a:prstGeom prst="roundRect">
            <a:avLst>
              <a:gd name="adj" fmla="val 15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074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What would it earn, and what does the team cost?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458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No private company publishes revenue or payroll</a:t>
            </a:r>
            <a:endParaRPr lang="en-US" sz="1400" dirty="0"/>
          </a:p>
        </p:txBody>
      </p:sp>
      <p:sp>
        <p:nvSpPr>
          <p:cNvPr id="24" name="why"/>
          <p:cNvSpPr/>
          <p:nvPr/>
        </p:nvSpPr>
        <p:spPr>
          <a:xfrm>
            <a:off x="7680960" y="1828800"/>
            <a:ext cx="3931920" cy="4069080"/>
          </a:xfrm>
          <a:prstGeom prst="roundRect">
            <a:avLst>
              <a:gd name="adj" fmla="val 3488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</a:rPr>
              <a:t>Why a chatbot gets it wrong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2514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It repeats the press release: the thing the investor is trying to check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Linear's 'total raised' of $233M includes a $99M tender: shareholder liquidity, not capital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Common names (Ramp, Clay) pull in other companies' staff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name in, sourced report 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Every fact is pulled from Crustdata's graph and carries its endpoint and field</a:t>
            </a:r>
            <a:endParaRPr lang="en-US" sz="1600" dirty="0"/>
          </a:p>
        </p:txBody>
      </p:sp>
      <p:sp>
        <p:nvSpPr>
          <p:cNvPr id="4" name="step0"/>
          <p:cNvSpPr/>
          <p:nvPr/>
        </p:nvSpPr>
        <p:spPr>
          <a:xfrm>
            <a:off x="54864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1031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Search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Name or domain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/company/identify</a:t>
            </a:r>
            <a:endParaRPr lang="en-US" sz="1200" dirty="0"/>
          </a:p>
        </p:txBody>
      </p:sp>
      <p:sp>
        <p:nvSpPr>
          <p:cNvPr id="9" name="step1"/>
          <p:cNvSpPr/>
          <p:nvPr/>
        </p:nvSpPr>
        <p:spPr>
          <a:xfrm>
            <a:off x="246888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103120"/>
            <a:ext cx="457200" cy="45720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Read the graph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Team, growth, funding, news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/company/enrich</a:t>
            </a:r>
            <a:endParaRPr lang="en-US" sz="1200" dirty="0"/>
          </a:p>
        </p:txBody>
      </p:sp>
      <p:sp>
        <p:nvSpPr>
          <p:cNvPr id="14" name="step2"/>
          <p:cNvSpPr/>
          <p:nvPr/>
        </p:nvSpPr>
        <p:spPr>
          <a:xfrm>
            <a:off x="438912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031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People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Schools, work history, alumni 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/person/search</a:t>
            </a:r>
            <a:endParaRPr lang="en-US" sz="1200" dirty="0"/>
          </a:p>
        </p:txBody>
      </p:sp>
      <p:sp>
        <p:nvSpPr>
          <p:cNvPr id="19" name="step3"/>
          <p:cNvSpPr/>
          <p:nvPr/>
        </p:nvSpPr>
        <p:spPr>
          <a:xfrm>
            <a:off x="630936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Market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Crowding, funded peers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/company/search</a:t>
            </a:r>
            <a:endParaRPr lang="en-US" sz="1200" dirty="0"/>
          </a:p>
        </p:txBody>
      </p:sp>
      <p:sp>
        <p:nvSpPr>
          <p:cNvPr id="24" name="step4"/>
          <p:cNvSpPr/>
          <p:nvPr/>
        </p:nvSpPr>
        <p:spPr>
          <a:xfrm>
            <a:off x="822960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2103120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69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Models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Revenue, salary, payroll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(trained offline)</a:t>
            </a:r>
            <a:endParaRPr lang="en-US" sz="1200" dirty="0"/>
          </a:p>
        </p:txBody>
      </p:sp>
      <p:sp>
        <p:nvSpPr>
          <p:cNvPr id="29" name="step5"/>
          <p:cNvSpPr/>
          <p:nvPr/>
        </p:nvSpPr>
        <p:spPr>
          <a:xfrm>
            <a:off x="10149840" y="1920240"/>
            <a:ext cx="1737360" cy="2194560"/>
          </a:xfrm>
          <a:prstGeom prst="roundRect">
            <a:avLst>
              <a:gd name="adj" fmla="val 7895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89920" y="210312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789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EF2FF"/>
                </a:solidFill>
              </a:rPr>
              <a:t>Fixed rules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Flags → pillars → rating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</a:rPr>
              <a:t>→ check size</a:t>
            </a:r>
            <a:endParaRPr lang="en-US" sz="1200" dirty="0"/>
          </a:p>
        </p:txBody>
      </p:sp>
      <p:sp>
        <p:nvSpPr>
          <p:cNvPr id="34" name="out0"/>
          <p:cNvSpPr/>
          <p:nvPr/>
        </p:nvSpPr>
        <p:spPr>
          <a:xfrm>
            <a:off x="548640" y="4434840"/>
            <a:ext cx="3611880" cy="1691640"/>
          </a:xfrm>
          <a:prstGeom prst="roundRect">
            <a:avLst>
              <a:gd name="adj" fmla="val 8108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553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Live dashboard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9834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Rating, score, check size, revenue, growth; tabs for team, economics, market, financing, flags; 'how?' explainers</a:t>
            </a:r>
            <a:endParaRPr lang="en-US" sz="1400" dirty="0"/>
          </a:p>
        </p:txBody>
      </p:sp>
      <p:sp>
        <p:nvSpPr>
          <p:cNvPr id="37" name="out1"/>
          <p:cNvSpPr/>
          <p:nvPr/>
        </p:nvSpPr>
        <p:spPr>
          <a:xfrm>
            <a:off x="4343400" y="4434840"/>
            <a:ext cx="3611880" cy="1691640"/>
          </a:xfrm>
          <a:prstGeom prst="roundRect">
            <a:avLst>
              <a:gd name="adj" fmla="val 8108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0" y="4553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Downloadable PDF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9834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Decision on page 1, evidence, red-flag checklist, methodology with every source</a:t>
            </a:r>
            <a:endParaRPr lang="en-US" sz="1400" dirty="0"/>
          </a:p>
        </p:txBody>
      </p:sp>
      <p:sp>
        <p:nvSpPr>
          <p:cNvPr id="40" name="out2"/>
          <p:cNvSpPr/>
          <p:nvPr/>
        </p:nvSpPr>
        <p:spPr>
          <a:xfrm>
            <a:off x="8138160" y="4434840"/>
            <a:ext cx="3611880" cy="1691640"/>
          </a:xfrm>
          <a:prstGeom prst="roundRect">
            <a:avLst>
              <a:gd name="adj" fmla="val 8108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66760" y="4553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Honest labels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49834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LIVE or replay; 'estimated' on every estimate; 'not checked' instead of zero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5 pillars, fixed rules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The same rules for every company; no language model decides whether you invest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4206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80136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20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Traction 30%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691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Headcount, web traffic and follower growth; growth against peers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2514600"/>
            <a:ext cx="256032" cy="25603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2404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Team 25%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4048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Founders ID-matched; prior startups; notable employers; top-tier school for the home market (up to +14)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322783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20640" y="31181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Market 15%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31181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Crowding: funded peers in the category in the last 24 months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394106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20640" y="3831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Financing 15%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8313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How recent the last primary round is; secondary sales excluded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4654296"/>
            <a:ext cx="256032" cy="256032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20640" y="4544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Verification 15%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4544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Claims checked against the original sources (neutral 50 if not run)</a:t>
            </a:r>
            <a:endParaRPr lang="en-US" sz="1300" dirty="0"/>
          </a:p>
        </p:txBody>
      </p:sp>
      <p:sp>
        <p:nvSpPr>
          <p:cNvPr id="20" name="rating"/>
          <p:cNvSpPr/>
          <p:nvPr/>
        </p:nvSpPr>
        <p:spPr>
          <a:xfrm>
            <a:off x="4754880" y="5349240"/>
            <a:ext cx="6903720" cy="868680"/>
          </a:xfrm>
          <a:prstGeom prst="roundRect">
            <a:avLst>
              <a:gd name="adj" fmla="val 15789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937760" y="541324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2FF"/>
                </a:solidFill>
              </a:rPr>
              <a:t>Score → rating:  </a:t>
            </a:r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INVEST ≥ 70</a:t>
            </a:r>
            <a:pPr indent="0" marL="0">
              <a:buNone/>
            </a:pPr>
            <a:r>
              <a:rPr lang="en-US" sz="1500" dirty="0">
                <a:solidFill>
                  <a:srgbClr val="6E7AA3"/>
                </a:solidFill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5B301"/>
                </a:solidFill>
              </a:rPr>
              <a:t>ACCUMULATE ≥ 58</a:t>
            </a:r>
            <a:pPr indent="0" marL="0">
              <a:buNone/>
            </a:pPr>
            <a:r>
              <a:rPr lang="en-US" sz="1500" dirty="0">
                <a:solidFill>
                  <a:srgbClr val="6E7AA3"/>
                </a:solidFill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</a:rPr>
              <a:t>HOLD ≥ 45</a:t>
            </a:r>
            <a:pPr indent="0" marL="0">
              <a:buNone/>
            </a:pPr>
            <a:r>
              <a:rPr lang="en-US" sz="1500" dirty="0">
                <a:solidFill>
                  <a:srgbClr val="6E7AA3"/>
                </a:solidFill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AVOID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9B4D6"/>
                </a:solidFill>
              </a:rPr>
              <a:t>A red flag caps INVEST at ACCUMULATE · a critical flag caps at HOLD · 2 critical flags force AVOID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what drives the estimate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Share of influence in the model trained on 126 companies (normalized model weights)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830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Model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039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D6"/>
                </a:solidFill>
              </a:rPr>
              <a:t>Tobit regression on 126 Crustdata revenue bands → a first estimate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2697480"/>
            <a:ext cx="457200" cy="45720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Correct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953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D6"/>
                </a:solidFill>
              </a:rPr>
              <a:t>Bands lag fast growers: ×2.97, learned from companies that publish revenue (scaleups only)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35240" y="36118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35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Blend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8679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D6"/>
                </a:solidFill>
              </a:rPr>
              <a:t>50% model + 50% headcount × $330K per employee (≥ 50 staff and ≥ $20M raised)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35240" y="45262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35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F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823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D6"/>
                </a:solidFill>
              </a:rPr>
              <a:t>Revenue per employee between $20K and $1.5M; shown as a range</a:t>
            </a:r>
            <a:endParaRPr lang="en-US" sz="1250" dirty="0"/>
          </a:p>
        </p:txBody>
      </p:sp>
      <p:sp>
        <p:nvSpPr>
          <p:cNvPr id="21" name="acc"/>
          <p:cNvSpPr/>
          <p:nvPr/>
        </p:nvSpPr>
        <p:spPr>
          <a:xfrm>
            <a:off x="7635240" y="5394960"/>
            <a:ext cx="4023360" cy="822960"/>
          </a:xfrm>
          <a:prstGeom prst="roundRect">
            <a:avLst>
              <a:gd name="adj" fmla="val 16667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5440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14% </a:t>
            </a:r>
            <a:pPr indent="0" marL="0">
              <a:buNone/>
            </a:pPr>
            <a:r>
              <a:rPr lang="en-US" sz="1250" dirty="0">
                <a:solidFill>
                  <a:srgbClr val="A9B4D6"/>
                </a:solidFill>
              </a:rPr>
              <a:t>median error · 6 of 6 within 2× on companies with public revenue (leave-one-out)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Revenue tested against public figures; claims verified with a re-checkable receipt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roof0"/>
          <p:cNvSpPr/>
          <p:nvPr/>
        </p:nvSpPr>
        <p:spPr>
          <a:xfrm>
            <a:off x="7498080" y="1691640"/>
            <a:ext cx="4160520" cy="1298448"/>
          </a:xfrm>
          <a:prstGeom prst="roundRect">
            <a:avLst>
              <a:gd name="adj" fmla="val 10563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80136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</a:rPr>
              <a:t>312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80136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D6"/>
                </a:solidFill>
              </a:rPr>
              <a:t>automated tests: API errors, identity, finance, gate, report, web</a:t>
            </a:r>
            <a:endParaRPr lang="en-US" sz="1350" dirty="0"/>
          </a:p>
        </p:txBody>
      </p:sp>
      <p:sp>
        <p:nvSpPr>
          <p:cNvPr id="8" name="proof1"/>
          <p:cNvSpPr/>
          <p:nvPr/>
        </p:nvSpPr>
        <p:spPr>
          <a:xfrm>
            <a:off x="7498080" y="3172968"/>
            <a:ext cx="4160520" cy="1298448"/>
          </a:xfrm>
          <a:prstGeom prst="roundRect">
            <a:avLst>
              <a:gd name="adj" fmla="val 10563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3282696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3 / 3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3282696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D6"/>
                </a:solidFill>
              </a:rPr>
              <a:t>companies verified end to end with a proof receipt (Koah, Linear, Attio)</a:t>
            </a:r>
            <a:endParaRPr lang="en-US" sz="1350" dirty="0"/>
          </a:p>
        </p:txBody>
      </p:sp>
      <p:sp>
        <p:nvSpPr>
          <p:cNvPr id="11" name="proof2"/>
          <p:cNvSpPr/>
          <p:nvPr/>
        </p:nvSpPr>
        <p:spPr>
          <a:xfrm>
            <a:off x="7498080" y="4654296"/>
            <a:ext cx="4160520" cy="1298448"/>
          </a:xfrm>
          <a:prstGeom prst="roundRect">
            <a:avLst>
              <a:gd name="adj" fmla="val 10563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4764024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</a:rPr>
              <a:t>Live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0" y="476402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4D6"/>
                </a:solidFill>
              </a:rPr>
              <a:t>unseen companies run end to end in seconds to a minute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cases, and what failed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Numbers that are technically right but misleading</a:t>
            </a:r>
            <a:endParaRPr lang="en-US" sz="1600" dirty="0"/>
          </a:p>
        </p:txBody>
      </p:sp>
      <p:sp>
        <p:nvSpPr>
          <p:cNvPr id="4" name="hard0"/>
          <p:cNvSpPr/>
          <p:nvPr/>
        </p:nvSpPr>
        <p:spPr>
          <a:xfrm>
            <a:off x="548640" y="1737360"/>
            <a:ext cx="6035040" cy="1280160"/>
          </a:xfrm>
          <a:prstGeom prst="roundRect">
            <a:avLst>
              <a:gd name="adj" fmla="val 10714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47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Tender counted as capital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677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Linear: $233M 'total raised' includes a $99M tender. We separate primary from secondary capital.</a:t>
            </a:r>
            <a:endParaRPr lang="en-US" sz="1400" dirty="0"/>
          </a:p>
        </p:txBody>
      </p:sp>
      <p:sp>
        <p:nvSpPr>
          <p:cNvPr id="9" name="hard1"/>
          <p:cNvSpPr/>
          <p:nvPr/>
        </p:nvSpPr>
        <p:spPr>
          <a:xfrm>
            <a:off x="548640" y="3200400"/>
            <a:ext cx="6035040" cy="1280160"/>
          </a:xfrm>
          <a:prstGeom prst="roundRect">
            <a:avLst>
              <a:gd name="adj" fmla="val 10714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10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Namesakes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730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Ramp and Clay pull in other companies' staff. We filter founders and flag inflated headcount.</a:t>
            </a:r>
            <a:endParaRPr lang="en-US" sz="1400" dirty="0"/>
          </a:p>
        </p:txBody>
      </p:sp>
      <p:sp>
        <p:nvSpPr>
          <p:cNvPr id="14" name="hard2"/>
          <p:cNvSpPr/>
          <p:nvPr/>
        </p:nvSpPr>
        <p:spPr>
          <a:xfrm>
            <a:off x="548640" y="4663440"/>
            <a:ext cx="6035040" cy="1280160"/>
          </a:xfrm>
          <a:prstGeom prst="roundRect">
            <a:avLst>
              <a:gd name="adj" fmla="val 10714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731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Collective claims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9379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'Founders overlapped at Affirm, Supermove, Qualified': true for one founder. Reported as a scope correction.</a:t>
            </a:r>
            <a:endParaRPr lang="en-US" sz="1400" dirty="0"/>
          </a:p>
        </p:txBody>
      </p:sp>
      <p:sp>
        <p:nvSpPr>
          <p:cNvPr id="19" name="failed"/>
          <p:cNvSpPr/>
          <p:nvPr/>
        </p:nvSpPr>
        <p:spPr>
          <a:xfrm>
            <a:off x="6949440" y="1737360"/>
            <a:ext cx="4709160" cy="4206240"/>
          </a:xfrm>
          <a:prstGeom prst="roundRect">
            <a:avLst>
              <a:gd name="adj" fmla="val 3261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What failed, and what we kept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42316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Social posts in the revenue model: no gain (57% → 57%)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Model 3 with 28 features overfitted 80 rows (79% error)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Trusting the database 'total raised' and news dates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4D6"/>
                </a:solidFill>
              </a:rPr>
              <a:t>An AI-written invest/pass verdict: rejected, not auditable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C55E"/>
                </a:solidFill>
              </a:rPr>
              <a:t>Kept: the simplest pipeline that tested best (14%)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next0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Claims check in the live 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Run the source-by-source verification for every new company, not only the three verified ones</a:t>
            </a:r>
            <a:endParaRPr lang="en-US" sz="1400" dirty="0"/>
          </a:p>
        </p:txBody>
      </p:sp>
      <p:sp>
        <p:nvSpPr>
          <p:cNvPr id="8" name="next1"/>
          <p:cNvSpPr/>
          <p:nvPr/>
        </p:nvSpPr>
        <p:spPr>
          <a:xfrm>
            <a:off x="4343400" y="146304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Calibrate revenue on many more companies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The correction rests on 3 public figures today; more ground truth tightens the range</a:t>
            </a:r>
            <a:endParaRPr lang="en-US" sz="1400" dirty="0"/>
          </a:p>
        </p:txBody>
      </p:sp>
      <p:sp>
        <p:nvSpPr>
          <p:cNvPr id="13" name="next2"/>
          <p:cNvSpPr/>
          <p:nvPr/>
        </p:nvSpPr>
        <p:spPr>
          <a:xfrm>
            <a:off x="8138160" y="146304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141D35"/>
          </a:solidFill>
          <a:ln w="12700">
            <a:solidFill>
              <a:srgbClr val="2533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F"/>
                </a:solidFill>
              </a:rPr>
              <a:t>Watchers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D6"/>
                </a:solidFill>
              </a:rPr>
              <a:t>Re-run when a founder moves or a new round is indexed, and show what changed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AA3"/>
                </a:solidFill>
              </a:rPr>
              <a:t>Why not today: each needs more ground truth or model time than one day allows.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company name to a sourced investment signal, </a:t>
            </a:r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minute.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D6"/>
                </a:solidFill>
              </a:rPr>
              <a:t>Thank you · github.com/yneha3229/v2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A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ofroom Dark">
  <a:themeElements>
    <a:clrScheme name="Proofroom Dark">
      <a:dk1>
        <a:srgbClr val="0B1020"/>
      </a:dk1>
      <a:lt1>
        <a:srgbClr val="FFFFFF"/>
      </a:lt1>
      <a:dk2>
        <a:srgbClr val="141D35"/>
      </a:dk2>
      <a:lt2>
        <a:srgbClr val="A9B4D6"/>
      </a:lt2>
      <a:accent1>
        <a:srgbClr val="22D3EE"/>
      </a:accent1>
      <a:accent2>
        <a:srgbClr val="4F8CFF"/>
      </a:accent2>
      <a:accent3>
        <a:srgbClr val="8B5CF6"/>
      </a:accent3>
      <a:accent4>
        <a:srgbClr val="22C55E"/>
      </a:accent4>
      <a:accent5>
        <a:srgbClr val="F5B301"/>
      </a:accent5>
      <a:accent6>
        <a:srgbClr val="FB923C"/>
      </a:accent6>
      <a:hlink>
        <a:srgbClr val="22D3EE"/>
      </a:hlink>
      <a:folHlink>
        <a:srgbClr val="8B5CF6"/>
      </a:folHlink>
    </a:clrScheme>
    <a:fontScheme name="Proofroom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Proofroom: ContextCon 03 finals</dc:title>
  <dc:subject>PptxGenJS Presentation</dc:subject>
  <dc:creator>PptxGenJS</dc:creator>
  <cp:lastModifiedBy>PptxGenJS</cp:lastModifiedBy>
  <cp:revision>1</cp:revision>
  <dcterms:created xsi:type="dcterms:W3CDTF">2026-10-31T12:40:25Z</dcterms:created>
  <dcterms:modified xsi:type="dcterms:W3CDTF">2026-10-31T12:40:25Z</dcterms:modified>
</cp:coreProperties>
</file>